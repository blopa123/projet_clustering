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  <p:sldMasterId id="214748365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ha9UKKu8aDWPYAUS8VyWAvFPVi4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customschemas.google.com/relationships/presentationmetadata" Target="metadata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/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8"/>
          <p:cNvSpPr txBox="1"/>
          <p:nvPr>
            <p:ph idx="1" type="subTitle"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8"/>
          <p:cNvSpPr txBox="1"/>
          <p:nvPr>
            <p:ph idx="11" type="ftr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8"/>
          <p:cNvSpPr txBox="1"/>
          <p:nvPr>
            <p:ph idx="12" type="sldNum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16" name="Google Shape;16;p8"/>
          <p:cNvSpPr txBox="1"/>
          <p:nvPr>
            <p:ph idx="10" type="dt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c2eec4e2be_0_92"/>
          <p:cNvSpPr txBox="1"/>
          <p:nvPr>
            <p:ph type="title"/>
          </p:nvPr>
        </p:nvSpPr>
        <p:spPr>
          <a:xfrm>
            <a:off x="838080" y="365040"/>
            <a:ext cx="10515000" cy="13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g3c2eec4e2be_0_92"/>
          <p:cNvSpPr txBox="1"/>
          <p:nvPr>
            <p:ph idx="1" type="body"/>
          </p:nvPr>
        </p:nvSpPr>
        <p:spPr>
          <a:xfrm>
            <a:off x="838080" y="1825560"/>
            <a:ext cx="10515000" cy="43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g3c2eec4e2be_0_92"/>
          <p:cNvSpPr txBox="1"/>
          <p:nvPr>
            <p:ph idx="11" type="ftr"/>
          </p:nvPr>
        </p:nvSpPr>
        <p:spPr>
          <a:xfrm>
            <a:off x="4038480" y="6356520"/>
            <a:ext cx="41145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g3c2eec4e2be_0_92"/>
          <p:cNvSpPr txBox="1"/>
          <p:nvPr>
            <p:ph idx="12" type="sldNum"/>
          </p:nvPr>
        </p:nvSpPr>
        <p:spPr>
          <a:xfrm>
            <a:off x="8610480" y="6356520"/>
            <a:ext cx="27429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22" name="Google Shape;22;g3c2eec4e2be_0_92"/>
          <p:cNvSpPr txBox="1"/>
          <p:nvPr>
            <p:ph idx="10" type="dt"/>
          </p:nvPr>
        </p:nvSpPr>
        <p:spPr>
          <a:xfrm>
            <a:off x="838080" y="6356520"/>
            <a:ext cx="27429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0"/>
          <p:cNvSpPr txBox="1"/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" type="body"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11" type="ftr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0"/>
          <p:cNvSpPr txBox="1"/>
          <p:nvPr>
            <p:ph idx="12" type="sldNum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34" name="Google Shape;34;p10"/>
          <p:cNvSpPr txBox="1"/>
          <p:nvPr>
            <p:ph idx="10" type="dt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p7"/>
          <p:cNvSpPr txBox="1"/>
          <p:nvPr>
            <p:ph idx="11" type="ftr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p7"/>
          <p:cNvSpPr txBox="1"/>
          <p:nvPr>
            <p:ph idx="12" type="sldNum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" name="Google Shape;9;p7"/>
          <p:cNvSpPr txBox="1"/>
          <p:nvPr>
            <p:ph idx="10" type="dt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" name="Google Shape;10;p7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9"/>
          <p:cNvSpPr txBox="1"/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5" name="Google Shape;25;p9"/>
          <p:cNvSpPr txBox="1"/>
          <p:nvPr>
            <p:ph idx="1" type="body"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6" name="Google Shape;26;p9"/>
          <p:cNvSpPr txBox="1"/>
          <p:nvPr>
            <p:ph idx="11" type="ftr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7" name="Google Shape;27;p9"/>
          <p:cNvSpPr txBox="1"/>
          <p:nvPr>
            <p:ph idx="12" type="sldNum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" name="Google Shape;28;p9"/>
          <p:cNvSpPr txBox="1"/>
          <p:nvPr>
            <p:ph idx="10" type="dt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pythoniste.fr/docker/deployer-une-application-python-avec-docker/" TargetMode="External"/><Relationship Id="rId4" Type="http://schemas.openxmlformats.org/officeDocument/2006/relationships/hyperlink" Target="https://docs.docker.com/get-started/docker-concepts/building-images/writing-a-dockerfile/" TargetMode="External"/><Relationship Id="rId5" Type="http://schemas.openxmlformats.org/officeDocument/2006/relationships/hyperlink" Target="https://docs.docker.com/guides/python/containeriz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"/>
          <p:cNvSpPr/>
          <p:nvPr/>
        </p:nvSpPr>
        <p:spPr>
          <a:xfrm>
            <a:off x="0" y="0"/>
            <a:ext cx="12190680" cy="685584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1"/>
          <p:cNvSpPr/>
          <p:nvPr/>
        </p:nvSpPr>
        <p:spPr>
          <a:xfrm>
            <a:off x="0" y="0"/>
            <a:ext cx="12190680" cy="44110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1"/>
          <p:cNvSpPr/>
          <p:nvPr/>
        </p:nvSpPr>
        <p:spPr>
          <a:xfrm>
            <a:off x="596520" y="551880"/>
            <a:ext cx="10997640" cy="4617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680" rotWithShape="0" algn="t" dir="5400000" dist="127080">
              <a:srgbClr val="000000">
                <a:alpha val="14901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1"/>
          <p:cNvSpPr txBox="1"/>
          <p:nvPr>
            <p:ph type="title"/>
          </p:nvPr>
        </p:nvSpPr>
        <p:spPr>
          <a:xfrm>
            <a:off x="1523880" y="1293480"/>
            <a:ext cx="9142560" cy="327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alibri"/>
              <a:buNone/>
            </a:pPr>
            <a:r>
              <a:rPr b="0" lang="fr-FR" sz="720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Projet</a:t>
            </a:r>
            <a:endParaRPr b="0" sz="7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1"/>
          <p:cNvSpPr txBox="1"/>
          <p:nvPr>
            <p:ph idx="1" type="subTitle"/>
          </p:nvPr>
        </p:nvSpPr>
        <p:spPr>
          <a:xfrm>
            <a:off x="1523880" y="5514120"/>
            <a:ext cx="9142560" cy="650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" name="Google Shape;44;p1"/>
          <p:cNvCxnSpPr/>
          <p:nvPr/>
        </p:nvCxnSpPr>
        <p:spPr>
          <a:xfrm flipH="1">
            <a:off x="596160" y="6354360"/>
            <a:ext cx="11001960" cy="1440"/>
          </a:xfrm>
          <a:prstGeom prst="straightConnector1">
            <a:avLst/>
          </a:prstGeom>
          <a:noFill/>
          <a:ln cap="flat" cmpd="sng" w="1016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"/>
          <p:cNvSpPr/>
          <p:nvPr/>
        </p:nvSpPr>
        <p:spPr>
          <a:xfrm>
            <a:off x="0" y="0"/>
            <a:ext cx="12190680" cy="685584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 txBox="1"/>
          <p:nvPr>
            <p:ph type="title"/>
          </p:nvPr>
        </p:nvSpPr>
        <p:spPr>
          <a:xfrm>
            <a:off x="589680" y="856080"/>
            <a:ext cx="5277960" cy="11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0" lang="fr-FR" sz="400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Projet IA </a:t>
            </a:r>
            <a:r>
              <a:rPr lang="fr-FR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</a:t>
            </a:r>
            <a:r>
              <a:rPr b="0" lang="fr-FR" sz="400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sz="4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1" name="Google Shape;51;p2"/>
          <p:cNvGrpSpPr/>
          <p:nvPr/>
        </p:nvGrpSpPr>
        <p:grpSpPr>
          <a:xfrm>
            <a:off x="0" y="1083600"/>
            <a:ext cx="353880" cy="672120"/>
            <a:chOff x="0" y="1083600"/>
            <a:chExt cx="353880" cy="672120"/>
          </a:xfrm>
        </p:grpSpPr>
        <p:sp>
          <p:nvSpPr>
            <p:cNvPr id="52" name="Google Shape;52;p2"/>
            <p:cNvSpPr/>
            <p:nvPr/>
          </p:nvSpPr>
          <p:spPr>
            <a:xfrm>
              <a:off x="0" y="1083600"/>
              <a:ext cx="86040" cy="67212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159480" y="1083600"/>
              <a:ext cx="194400" cy="67212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4" name="Google Shape;54;p2"/>
          <p:cNvSpPr/>
          <p:nvPr/>
        </p:nvSpPr>
        <p:spPr>
          <a:xfrm flipH="1">
            <a:off x="663480" y="2124000"/>
            <a:ext cx="4973760" cy="259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 txBox="1"/>
          <p:nvPr>
            <p:ph idx="1" type="body"/>
          </p:nvPr>
        </p:nvSpPr>
        <p:spPr>
          <a:xfrm>
            <a:off x="590760" y="2330640"/>
            <a:ext cx="5276520" cy="39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None/>
            </a:pPr>
            <a:r>
              <a:rPr b="1" i="0" lang="fr-FR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Sujet</a:t>
            </a:r>
            <a:r>
              <a:rPr b="0" i="0" lang="fr-FR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 </a:t>
            </a:r>
            <a:r>
              <a:rPr b="1" i="0" lang="fr-FR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Clustering des images 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None/>
            </a:pPr>
            <a:r>
              <a:rPr b="1" i="0" lang="fr-FR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Données</a:t>
            </a:r>
            <a:r>
              <a:rPr b="0" i="0" lang="fr-FR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 Snacks (data set de </a:t>
            </a:r>
            <a:r>
              <a:rPr b="1" i="0" lang="fr-FR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</a:t>
            </a:r>
            <a:r>
              <a:rPr b="0" i="0" lang="fr-FR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, 955 images réparties sur 20 classes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None/>
            </a:pPr>
            <a:r>
              <a:rPr b="1" i="0" lang="fr-FR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Objectif</a:t>
            </a:r>
            <a:r>
              <a:rPr b="0" i="0" lang="fr-FR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 Le but est de créer un modèle IA qui permet de regrouper les données sans se baser sur les labels déjà fournis. Il y agit donc d’une problématique de clustering. A travers ce projet, vous devez créer un modèle de clustering sur 20 clusters. 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None/>
            </a:pPr>
            <a:r>
              <a:rPr b="0" i="0" lang="fr-FR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Soit n la taille de votre groupe (2 </a:t>
            </a:r>
            <a:r>
              <a:rPr b="1" i="0" lang="fr-F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≤ </a:t>
            </a:r>
            <a:r>
              <a:rPr b="0" i="0" lang="fr-FR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1" i="0" lang="fr-F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≤</a:t>
            </a:r>
            <a:r>
              <a:rPr b="0" i="0" lang="fr-FR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3). Vous devez utiliser au moins n modèles de clustering (</a:t>
            </a:r>
            <a:r>
              <a:rPr b="1" i="0" lang="fr-FR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plus</a:t>
            </a:r>
            <a:r>
              <a:rPr b="0" i="0" lang="fr-FR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Kmeans) et expliquer vos choix. De même pour les descripteurs, vous devez implémenter n descripteurs (</a:t>
            </a:r>
            <a:r>
              <a:rPr b="1" i="0" lang="fr-FR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plus</a:t>
            </a:r>
            <a:r>
              <a:rPr b="0" i="0" lang="fr-FR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ceux du TP). Vous devez aussi choisir n métriques et pouvoir les expliquer.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"/>
          <p:cNvSpPr/>
          <p:nvPr/>
        </p:nvSpPr>
        <p:spPr>
          <a:xfrm flipH="1">
            <a:off x="10696320" y="0"/>
            <a:ext cx="1492920" cy="685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6849720" y="357480"/>
            <a:ext cx="4844160" cy="292212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680" rotWithShape="0" algn="t" dir="5400000" dist="127080">
              <a:srgbClr val="000000">
                <a:alpha val="14901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Une image contenant fruit, orange, agrume, Orange amère&#10;&#10;Description générée automatiquement" id="58" name="Google Shape;58;p2"/>
          <p:cNvPicPr preferRelativeResize="0"/>
          <p:nvPr/>
        </p:nvPicPr>
        <p:blipFill rotWithShape="1">
          <a:blip r:embed="rId3">
            <a:alphaModFix/>
          </a:blip>
          <a:srcRect b="9124" l="0" r="0" t="3380"/>
          <a:stretch/>
        </p:blipFill>
        <p:spPr>
          <a:xfrm>
            <a:off x="7083360" y="581760"/>
            <a:ext cx="4395960" cy="251748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2"/>
          <p:cNvSpPr/>
          <p:nvPr/>
        </p:nvSpPr>
        <p:spPr>
          <a:xfrm>
            <a:off x="6849720" y="3505320"/>
            <a:ext cx="4844160" cy="292212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680" rotWithShape="0" algn="t" dir="5400000" dist="127080">
              <a:srgbClr val="000000">
                <a:alpha val="14901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Une image contenant nourriture, Snack, produits de boulangerie, dessert&#10;&#10;Description générée automatiquement" id="60" name="Google Shape;60;p2"/>
          <p:cNvPicPr preferRelativeResize="0"/>
          <p:nvPr/>
        </p:nvPicPr>
        <p:blipFill rotWithShape="1">
          <a:blip r:embed="rId4">
            <a:alphaModFix/>
          </a:blip>
          <a:srcRect b="24906" l="0" r="0" t="32066"/>
          <a:stretch/>
        </p:blipFill>
        <p:spPr>
          <a:xfrm>
            <a:off x="7083360" y="3708000"/>
            <a:ext cx="4394160" cy="2517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"/>
          <p:cNvSpPr/>
          <p:nvPr/>
        </p:nvSpPr>
        <p:spPr>
          <a:xfrm>
            <a:off x="2880" y="4320"/>
            <a:ext cx="12187440" cy="685656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0" y="0"/>
            <a:ext cx="4165920" cy="68565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 txBox="1"/>
          <p:nvPr>
            <p:ph type="title"/>
          </p:nvPr>
        </p:nvSpPr>
        <p:spPr>
          <a:xfrm>
            <a:off x="414000" y="591480"/>
            <a:ext cx="3418200" cy="558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0" lang="fr-FR" sz="44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Rendu Projet : Rapport</a:t>
            </a:r>
            <a:endParaRPr b="0" sz="4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3"/>
          <p:cNvSpPr/>
          <p:nvPr/>
        </p:nvSpPr>
        <p:spPr>
          <a:xfrm flipH="1" rot="10800000">
            <a:off x="7550280" y="2452680"/>
            <a:ext cx="4082040" cy="4082040"/>
          </a:xfrm>
          <a:prstGeom prst="arc">
            <a:avLst>
              <a:gd fmla="val 16200000" name="adj1"/>
              <a:gd fmla="val 0" name="adj2"/>
            </a:avLst>
          </a:prstGeom>
          <a:noFill/>
          <a:ln cap="rnd" cmpd="sng" w="127000">
            <a:solidFill>
              <a:srgbClr val="FFC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4447440" y="591480"/>
            <a:ext cx="6905160" cy="558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rmAutofit/>
          </a:bodyPr>
          <a:lstStyle/>
          <a:p>
            <a:pPr indent="-216000" lvl="0" marL="2160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1" i="0" lang="fr-F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Modalités de rendu :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457200" marR="0" rtl="0" algn="l">
              <a:lnSpc>
                <a:spcPct val="90000"/>
              </a:lnSpc>
              <a:spcBef>
                <a:spcPts val="601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fr-F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Dimanche </a:t>
            </a:r>
            <a:r>
              <a:rPr lang="fr-F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 mai 23h59 Heure de Paris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457200" marR="0" rtl="0" algn="l">
              <a:lnSpc>
                <a:spcPct val="90000"/>
              </a:lnSpc>
              <a:spcBef>
                <a:spcPts val="601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fr-F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fichier </a:t>
            </a:r>
            <a:r>
              <a:rPr b="1" i="0" lang="fr-F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pdf</a:t>
            </a:r>
            <a:r>
              <a:rPr b="0" i="0" lang="fr-F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 groupe</a:t>
            </a:r>
            <a:br>
              <a:rPr b="0" i="0" lang="fr-FR" sz="2000" u="none" cap="none" strike="noStrike">
                <a:latin typeface="Calibri"/>
                <a:ea typeface="Calibri"/>
                <a:cs typeface="Calibri"/>
                <a:sym typeface="Calibri"/>
              </a:rPr>
            </a:br>
            <a:r>
              <a:rPr b="0" i="1" lang="fr-F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marR="0" rtl="0" algn="l">
              <a:lnSpc>
                <a:spcPct val="90000"/>
              </a:lnSpc>
              <a:spcBef>
                <a:spcPts val="601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1" i="0" lang="fr-F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Contenu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457200" marR="0" rtl="0" algn="l">
              <a:lnSpc>
                <a:spcPct val="90000"/>
              </a:lnSpc>
              <a:spcBef>
                <a:spcPts val="601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1" i="0" lang="fr-F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Explication</a:t>
            </a:r>
            <a:r>
              <a:rPr b="0" i="0" lang="fr-F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des approches choisies </a:t>
            </a:r>
            <a:r>
              <a:rPr b="0" i="1" lang="fr-F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(descripteurs, modèles), et du fonctionnement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457200" marR="0" rtl="0" algn="l">
              <a:lnSpc>
                <a:spcPct val="90000"/>
              </a:lnSpc>
              <a:spcBef>
                <a:spcPts val="601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1" i="0" lang="fr-F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Explications</a:t>
            </a:r>
            <a:r>
              <a:rPr b="0" i="0" lang="fr-F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des choix de </a:t>
            </a:r>
            <a:r>
              <a:rPr b="0" i="1" lang="fr-F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métriques</a:t>
            </a:r>
            <a:r>
              <a:rPr b="0" i="0" lang="fr-F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457200" marR="0" rtl="0" algn="l">
              <a:lnSpc>
                <a:spcPct val="90000"/>
              </a:lnSpc>
              <a:spcBef>
                <a:spcPts val="601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1" i="0" lang="fr-F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Evaluations</a:t>
            </a:r>
            <a:r>
              <a:rPr b="0" i="0" lang="fr-F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et explications des </a:t>
            </a:r>
            <a:r>
              <a:rPr b="0" i="1" lang="fr-F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résultats</a:t>
            </a:r>
            <a:r>
              <a:rPr b="0" i="0" lang="fr-F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457200" marR="0" rtl="0" algn="l">
              <a:lnSpc>
                <a:spcPct val="90000"/>
              </a:lnSpc>
              <a:spcBef>
                <a:spcPts val="601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fr-F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Répartition du travail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457200" marR="0" rtl="0" algn="l">
              <a:lnSpc>
                <a:spcPct val="90000"/>
              </a:lnSpc>
              <a:spcBef>
                <a:spcPts val="601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fr-F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Pistes d’améliorations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457200" marR="0" rtl="0" algn="l">
              <a:lnSpc>
                <a:spcPct val="90000"/>
              </a:lnSpc>
              <a:spcBef>
                <a:spcPts val="601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fr-F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Taille : autour de 10+5n pages (à 2 pages près)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457200" marR="0" rtl="0" algn="l">
              <a:lnSpc>
                <a:spcPct val="90000"/>
              </a:lnSpc>
              <a:spcBef>
                <a:spcPts val="601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fr-F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Figures des résultats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"/>
          <p:cNvSpPr/>
          <p:nvPr/>
        </p:nvSpPr>
        <p:spPr>
          <a:xfrm>
            <a:off x="2880" y="4320"/>
            <a:ext cx="12187440" cy="685656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0" y="0"/>
            <a:ext cx="4165920" cy="68565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 txBox="1"/>
          <p:nvPr>
            <p:ph type="title"/>
          </p:nvPr>
        </p:nvSpPr>
        <p:spPr>
          <a:xfrm>
            <a:off x="420480" y="591480"/>
            <a:ext cx="3538800" cy="558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0" lang="fr-FR" sz="44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Rendu Projet : Présentation</a:t>
            </a:r>
            <a:endParaRPr b="0" sz="4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4"/>
          <p:cNvSpPr/>
          <p:nvPr/>
        </p:nvSpPr>
        <p:spPr>
          <a:xfrm flipH="1" rot="10800000">
            <a:off x="7550280" y="2452680"/>
            <a:ext cx="4082040" cy="4082040"/>
          </a:xfrm>
          <a:prstGeom prst="arc">
            <a:avLst>
              <a:gd fmla="val 16200000" name="adj1"/>
              <a:gd fmla="val 0" name="adj2"/>
            </a:avLst>
          </a:prstGeom>
          <a:noFill/>
          <a:ln cap="rnd" cmpd="sng" w="127000">
            <a:solidFill>
              <a:srgbClr val="FFC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4447440" y="591480"/>
            <a:ext cx="6905160" cy="558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rmAutofit/>
          </a:bodyPr>
          <a:lstStyle/>
          <a:p>
            <a:pPr indent="-216000" lvl="0" marL="2160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79"/>
              <a:buFont typeface="Arial"/>
              <a:buChar char="•"/>
            </a:pPr>
            <a:r>
              <a:rPr b="1" i="0" lang="fr-FR" sz="167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Contenu de la presentation</a:t>
            </a:r>
            <a:endParaRPr b="0" i="0" sz="167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457200" marR="0" rtl="0" algn="l">
              <a:lnSpc>
                <a:spcPct val="90000"/>
              </a:lnSpc>
              <a:spcBef>
                <a:spcPts val="601"/>
              </a:spcBef>
              <a:spcAft>
                <a:spcPts val="0"/>
              </a:spcAft>
              <a:buClr>
                <a:srgbClr val="000000"/>
              </a:buClr>
              <a:buSzPts val="1679"/>
              <a:buFont typeface="Arial"/>
              <a:buChar char="•"/>
            </a:pPr>
            <a:r>
              <a:rPr b="0" i="0" lang="fr-FR" sz="167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r>
              <a:rPr lang="fr-FR" sz="167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endredi 22 mai matin</a:t>
            </a:r>
            <a:endParaRPr sz="167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457200" marR="0" rtl="0" algn="l">
              <a:lnSpc>
                <a:spcPct val="90000"/>
              </a:lnSpc>
              <a:spcBef>
                <a:spcPts val="601"/>
              </a:spcBef>
              <a:spcAft>
                <a:spcPts val="0"/>
              </a:spcAft>
              <a:buClr>
                <a:srgbClr val="000000"/>
              </a:buClr>
              <a:buSzPts val="1679"/>
              <a:buFont typeface="Arial"/>
              <a:buChar char="•"/>
            </a:pPr>
            <a:r>
              <a:rPr b="0" i="0" lang="fr-FR" sz="167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10/15min de passage </a:t>
            </a:r>
            <a:r>
              <a:rPr b="0" i="1" lang="fr-FR" sz="167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(on verra en function du nombre de groupes)</a:t>
            </a:r>
            <a:endParaRPr b="0" i="0" sz="167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457200" marR="0" rtl="0" algn="l">
              <a:lnSpc>
                <a:spcPct val="90000"/>
              </a:lnSpc>
              <a:spcBef>
                <a:spcPts val="601"/>
              </a:spcBef>
              <a:spcAft>
                <a:spcPts val="0"/>
              </a:spcAft>
              <a:buClr>
                <a:srgbClr val="000000"/>
              </a:buClr>
              <a:buSzPts val="1679"/>
              <a:buFont typeface="Arial"/>
              <a:buChar char="•"/>
            </a:pPr>
            <a:r>
              <a:rPr b="0" i="0" lang="fr-FR" sz="167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Présentation des résultats sous forme de dashboard avec streamlit</a:t>
            </a:r>
            <a:endParaRPr b="0" i="0" sz="167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457200" marR="0" rtl="0" algn="l">
              <a:lnSpc>
                <a:spcPct val="90000"/>
              </a:lnSpc>
              <a:spcBef>
                <a:spcPts val="601"/>
              </a:spcBef>
              <a:spcAft>
                <a:spcPts val="0"/>
              </a:spcAft>
              <a:buClr>
                <a:srgbClr val="000000"/>
              </a:buClr>
              <a:buSzPts val="1679"/>
              <a:buFont typeface="Arial"/>
              <a:buChar char="•"/>
            </a:pPr>
            <a:r>
              <a:rPr b="0" i="0" lang="fr-FR" sz="167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Explication des choix (modèles, descripteurs, métriques, etc.)</a:t>
            </a:r>
            <a:endParaRPr b="0" i="0" sz="167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457200" marR="0" rtl="0" algn="l">
              <a:lnSpc>
                <a:spcPct val="90000"/>
              </a:lnSpc>
              <a:spcBef>
                <a:spcPts val="601"/>
              </a:spcBef>
              <a:spcAft>
                <a:spcPts val="0"/>
              </a:spcAft>
              <a:buClr>
                <a:srgbClr val="000000"/>
              </a:buClr>
              <a:buSzPts val="1679"/>
              <a:buFont typeface="Arial"/>
              <a:buChar char="•"/>
            </a:pPr>
            <a:r>
              <a:rPr b="0" i="0" lang="fr-FR" sz="167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Prediction en direct</a:t>
            </a:r>
            <a:endParaRPr b="0" i="0" sz="167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457200" marR="0" rtl="0" algn="l">
              <a:lnSpc>
                <a:spcPct val="90000"/>
              </a:lnSpc>
              <a:spcBef>
                <a:spcPts val="601"/>
              </a:spcBef>
              <a:spcAft>
                <a:spcPts val="0"/>
              </a:spcAft>
              <a:buClr>
                <a:srgbClr val="000000"/>
              </a:buClr>
              <a:buSzPts val="1679"/>
              <a:buFont typeface="Arial"/>
              <a:buChar char="•"/>
            </a:pPr>
            <a:r>
              <a:rPr b="0" i="0" lang="fr-FR" sz="167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Questions</a:t>
            </a:r>
            <a:endParaRPr b="0" i="0" sz="167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28600" marR="0" rtl="0" algn="l">
              <a:lnSpc>
                <a:spcPct val="9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t/>
            </a:r>
            <a:endParaRPr b="0" i="0" sz="167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601"/>
              </a:spcBef>
              <a:spcAft>
                <a:spcPts val="0"/>
              </a:spcAft>
              <a:buClr>
                <a:srgbClr val="000000"/>
              </a:buClr>
              <a:buSzPts val="1679"/>
              <a:buFont typeface="Arial"/>
              <a:buChar char="•"/>
            </a:pPr>
            <a:r>
              <a:rPr b="1" i="0" lang="fr-FR" sz="167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Contenu du Dashboard</a:t>
            </a:r>
            <a:endParaRPr b="0" i="0" sz="167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457200" marR="0" rtl="0" algn="l">
              <a:lnSpc>
                <a:spcPct val="90000"/>
              </a:lnSpc>
              <a:spcBef>
                <a:spcPts val="601"/>
              </a:spcBef>
              <a:spcAft>
                <a:spcPts val="0"/>
              </a:spcAft>
              <a:buClr>
                <a:srgbClr val="000000"/>
              </a:buClr>
              <a:buSzPts val="1679"/>
              <a:buFont typeface="Arial"/>
              <a:buChar char="•"/>
            </a:pPr>
            <a:r>
              <a:rPr b="1" i="0" lang="fr-FR" sz="167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But : </a:t>
            </a:r>
            <a:r>
              <a:rPr b="0" i="0" lang="fr-FR" sz="167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représenter les résultats des expérimentations.</a:t>
            </a:r>
            <a:endParaRPr b="0" i="0" sz="167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457200" marR="0" rtl="0" algn="l">
              <a:lnSpc>
                <a:spcPct val="90000"/>
              </a:lnSpc>
              <a:spcBef>
                <a:spcPts val="601"/>
              </a:spcBef>
              <a:spcAft>
                <a:spcPts val="0"/>
              </a:spcAft>
              <a:buClr>
                <a:srgbClr val="000000"/>
              </a:buClr>
              <a:buSzPts val="1679"/>
              <a:buFont typeface="Arial"/>
              <a:buChar char="•"/>
            </a:pPr>
            <a:r>
              <a:rPr b="0" i="0" lang="fr-FR" sz="167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Visualisation attendu :</a:t>
            </a:r>
            <a:endParaRPr b="0" i="0" sz="167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2" marL="1085760" marR="0" rtl="0" algn="l">
              <a:lnSpc>
                <a:spcPct val="90000"/>
              </a:lnSpc>
              <a:spcBef>
                <a:spcPts val="601"/>
              </a:spcBef>
              <a:spcAft>
                <a:spcPts val="0"/>
              </a:spcAft>
              <a:buClr>
                <a:srgbClr val="000000"/>
              </a:buClr>
              <a:buSzPts val="1679"/>
              <a:buFont typeface="Arial"/>
              <a:buChar char="•"/>
            </a:pPr>
            <a:r>
              <a:rPr b="0" i="0" lang="fr-FR" sz="167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Exploration des données en 3D</a:t>
            </a:r>
            <a:endParaRPr b="0" i="0" sz="167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2" marL="1085760" marR="0" rtl="0" algn="l">
              <a:lnSpc>
                <a:spcPct val="90000"/>
              </a:lnSpc>
              <a:spcBef>
                <a:spcPts val="601"/>
              </a:spcBef>
              <a:spcAft>
                <a:spcPts val="0"/>
              </a:spcAft>
              <a:buClr>
                <a:srgbClr val="000000"/>
              </a:buClr>
              <a:buSzPts val="1679"/>
              <a:buFont typeface="Arial"/>
              <a:buChar char="•"/>
            </a:pPr>
            <a:r>
              <a:rPr b="0" i="0" lang="fr-FR" sz="167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fonction du cluster, du descripteur, du model clustering sélectionnés :</a:t>
            </a:r>
            <a:endParaRPr b="0" i="0" sz="167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3" marL="1542960" marR="0" rtl="0" algn="l">
              <a:lnSpc>
                <a:spcPct val="90000"/>
              </a:lnSpc>
              <a:spcBef>
                <a:spcPts val="601"/>
              </a:spcBef>
              <a:spcAft>
                <a:spcPts val="0"/>
              </a:spcAft>
              <a:buClr>
                <a:srgbClr val="000000"/>
              </a:buClr>
              <a:buSzPts val="1679"/>
              <a:buFont typeface="Arial"/>
              <a:buChar char="•"/>
            </a:pPr>
            <a:r>
              <a:rPr b="0" i="0" lang="fr-FR" sz="167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Affichage d’une image exemple du cluster</a:t>
            </a:r>
            <a:endParaRPr b="0" i="0" sz="167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3" marL="1542960" marR="0" rtl="0" algn="l">
              <a:lnSpc>
                <a:spcPct val="90000"/>
              </a:lnSpc>
              <a:spcBef>
                <a:spcPts val="601"/>
              </a:spcBef>
              <a:spcAft>
                <a:spcPts val="0"/>
              </a:spcAft>
              <a:buClr>
                <a:srgbClr val="000000"/>
              </a:buClr>
              <a:buSzPts val="1679"/>
              <a:buFont typeface="Arial"/>
              <a:buChar char="•"/>
            </a:pPr>
            <a:r>
              <a:rPr b="0" i="0" lang="fr-FR" sz="167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Affichage des métriques du clustering </a:t>
            </a:r>
            <a:endParaRPr b="0" i="0" sz="167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3" marL="1542960" marR="0" rtl="0" algn="l">
              <a:lnSpc>
                <a:spcPct val="90000"/>
              </a:lnSpc>
              <a:spcBef>
                <a:spcPts val="601"/>
              </a:spcBef>
              <a:spcAft>
                <a:spcPts val="0"/>
              </a:spcAft>
              <a:buClr>
                <a:srgbClr val="000000"/>
              </a:buClr>
              <a:buSzPts val="1679"/>
              <a:buFont typeface="Arial"/>
              <a:buChar char="•"/>
            </a:pPr>
            <a:r>
              <a:rPr b="0" i="0" lang="fr-FR" sz="167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Affichage d’un graphe de suivi du silhouette score : nombre de cluster de suivis : 5, 10, 15, 20, 25</a:t>
            </a:r>
            <a:endParaRPr b="0" i="0" sz="167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"/>
          <p:cNvSpPr/>
          <p:nvPr/>
        </p:nvSpPr>
        <p:spPr>
          <a:xfrm>
            <a:off x="2880" y="4320"/>
            <a:ext cx="12187440" cy="685656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0" y="0"/>
            <a:ext cx="4165920" cy="68565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 txBox="1"/>
          <p:nvPr>
            <p:ph type="title"/>
          </p:nvPr>
        </p:nvSpPr>
        <p:spPr>
          <a:xfrm>
            <a:off x="420480" y="591480"/>
            <a:ext cx="3538800" cy="558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0" lang="fr-FR" sz="44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Rendu Projet : </a:t>
            </a:r>
            <a:br>
              <a:rPr lang="fr-FR" sz="4400"/>
            </a:br>
            <a:r>
              <a:rPr b="0" lang="fr-FR" sz="44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Code</a:t>
            </a:r>
            <a:endParaRPr b="0" sz="4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5"/>
          <p:cNvSpPr/>
          <p:nvPr/>
        </p:nvSpPr>
        <p:spPr>
          <a:xfrm flipH="1" rot="10800000">
            <a:off x="7550280" y="2452680"/>
            <a:ext cx="4082040" cy="4082040"/>
          </a:xfrm>
          <a:prstGeom prst="arc">
            <a:avLst>
              <a:gd fmla="val 16200000" name="adj1"/>
              <a:gd fmla="val 0" name="adj2"/>
            </a:avLst>
          </a:prstGeom>
          <a:noFill/>
          <a:ln cap="rnd" cmpd="sng" w="127000">
            <a:solidFill>
              <a:srgbClr val="FFC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4447440" y="591840"/>
            <a:ext cx="6905160" cy="558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Modalités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fr-F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Rendu </a:t>
            </a: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vendredi 22 mai au soir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fr-F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Envoi par mail aux deux enseignants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fr-F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Conteneurisation avec Docker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Code</a:t>
            </a:r>
            <a:r>
              <a:rPr b="0" i="0" lang="fr-F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fr-F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Pipeline IA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fr-F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Pipeline Dashboard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fr-F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Code modulaire + documenté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fr-F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Pendant votre travail, code exécutable de la manière suivante :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Installation des différents packages: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2" marL="114300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fr-F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pip install –r requirements.txt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Run Pipeline IA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2" marL="114300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fr-F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python pipeline.py –path_data chemin_vers_les_données –path_output chemin_vers_le_dossier_output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Run Pipeline Dashboard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2" marL="114300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fr-F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python dashboard.py –path_data chemin_vers_les_analyse_ia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1" i="0" lang="fr-F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À envoyer : sortie du pipeline</a:t>
            </a:r>
            <a:r>
              <a:rPr b="0" i="0" lang="fr-F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IA (.xls .csv) pour alimenter 3) chez nous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1" i="0" lang="fr-F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Pour nous : 1) et 3) via dockerfile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"/>
          <p:cNvSpPr/>
          <p:nvPr/>
        </p:nvSpPr>
        <p:spPr>
          <a:xfrm>
            <a:off x="2880" y="0"/>
            <a:ext cx="12187440" cy="685656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0" y="0"/>
            <a:ext cx="4165920" cy="6856560"/>
          </a:xfrm>
          <a:custGeom>
            <a:rect b="b" l="l" r="r" t="t"/>
            <a:pathLst>
              <a:path extrusionOk="0" h="6858000" w="4167271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 txBox="1"/>
          <p:nvPr>
            <p:ph type="title"/>
          </p:nvPr>
        </p:nvSpPr>
        <p:spPr>
          <a:xfrm>
            <a:off x="448200" y="1153440"/>
            <a:ext cx="3437640" cy="445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0" lang="fr-FR" sz="44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Evaluation</a:t>
            </a:r>
            <a:endParaRPr b="0" sz="4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6"/>
          <p:cNvSpPr/>
          <p:nvPr/>
        </p:nvSpPr>
        <p:spPr>
          <a:xfrm flipH="1" rot="10800000">
            <a:off x="7550280" y="2452680"/>
            <a:ext cx="4082040" cy="4082040"/>
          </a:xfrm>
          <a:prstGeom prst="arc">
            <a:avLst>
              <a:gd fmla="val 16200000" name="adj1"/>
              <a:gd fmla="val 0" name="adj2"/>
            </a:avLst>
          </a:prstGeom>
          <a:noFill/>
          <a:ln cap="rnd" cmpd="sng" w="127000">
            <a:solidFill>
              <a:srgbClr val="FFC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 txBox="1"/>
          <p:nvPr>
            <p:ph idx="1" type="body"/>
          </p:nvPr>
        </p:nvSpPr>
        <p:spPr>
          <a:xfrm>
            <a:off x="4165920" y="180000"/>
            <a:ext cx="7894080" cy="6299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3333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Code :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6009" lvl="0" marL="2160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Noto Sans Symbols"/>
              <a:buChar char="●"/>
            </a:pPr>
            <a:r>
              <a:rPr b="0" i="0" lang="fr-F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Respect des consignes, des fichiers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6009" lvl="0" marL="2160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Noto Sans Symbols"/>
              <a:buChar char="●"/>
            </a:pPr>
            <a:r>
              <a:rPr b="0" i="0" lang="fr-F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Compile bien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6009" lvl="0" marL="2160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Noto Sans Symbols"/>
              <a:buChar char="●"/>
            </a:pPr>
            <a:r>
              <a:rPr b="0" i="0" lang="fr-F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Contenu bien organisé, fonctionnalités, architecture de code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160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ct val="1000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160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Visualisation :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6009" lvl="0" marL="2160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Noto Sans Symbols"/>
              <a:buChar char="●"/>
            </a:pPr>
            <a:r>
              <a:rPr b="0" i="0" lang="fr-F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Minimum : streamlit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6009" lvl="0" marL="2160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Noto Sans Symbols"/>
              <a:buChar char="●"/>
            </a:pPr>
            <a:r>
              <a:rPr b="0" i="0" lang="fr-F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Améliorations possibles : site web, react, etc.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160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ct val="1000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160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Conteneurisation :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6009" lvl="0" marL="2160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Noto Sans Symbols"/>
              <a:buChar char="●"/>
            </a:pPr>
            <a:r>
              <a:rPr b="0" i="0" lang="fr-F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Minimum : dockerfile</a:t>
            </a:r>
            <a:br>
              <a:rPr b="0" i="0" lang="fr-FR" sz="1600" u="none" cap="none" strike="noStrike"/>
            </a:br>
            <a:r>
              <a:rPr b="0" i="0" lang="fr-FR" sz="16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https://www.pythoniste.fr/docker/deployer-une-application-python-avec-docker/</a:t>
            </a:r>
            <a:br>
              <a:rPr b="0" i="0" lang="fr-FR" sz="1600" u="none" cap="none" strike="noStrike"/>
            </a:br>
            <a:r>
              <a:rPr b="0" i="0" lang="fr-FR" sz="16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https://docs.docker.com/get-started/docker-concepts/building-images/writing-a-dockerfile/</a:t>
            </a:r>
            <a:br>
              <a:rPr b="0" i="0" lang="fr-FR" sz="1600" u="none" cap="none" strike="noStrike"/>
            </a:br>
            <a:r>
              <a:rPr b="0" i="0" lang="fr-FR" sz="16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https://docs.docker.com/guides/python/containerize/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6009" lvl="0" marL="2160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Noto Sans Symbols"/>
              <a:buChar char="●"/>
            </a:pPr>
            <a:r>
              <a:rPr b="0" i="0" lang="fr-F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Améliorations possibles : sur dockerHub, sur un cloud (GCP, Azur, AWS)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160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ct val="1000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160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Rapport :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6009" lvl="0" marL="2160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Noto Sans Symbols"/>
              <a:buChar char="●"/>
            </a:pPr>
            <a:r>
              <a:rPr b="0" i="0" lang="fr-F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Démarche scientifique et technique bien expliquée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6009" lvl="0" marL="2160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Noto Sans Symbols"/>
              <a:buChar char="●"/>
            </a:pPr>
            <a:r>
              <a:rPr b="0" i="0" lang="fr-F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Présentation et justification du choix des modèles, features, métriques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6009" lvl="0" marL="2160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Noto Sans Symbols"/>
              <a:buChar char="●"/>
            </a:pPr>
            <a:r>
              <a:rPr b="0" i="0" lang="fr-F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Présentation, esthétique, grammaire et orthographe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ct val="1000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2024-03-18T14:47:27Z</dcterms:created>
  <dc:creator>HENG Daro (LCL)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cad6431-53ea-4466-8111-3fefa470bcb9_ActionId">
    <vt:lpwstr>33222426-9ff2-4b9e-affe-a06072fa9398</vt:lpwstr>
  </property>
  <property fmtid="{D5CDD505-2E9C-101B-9397-08002B2CF9AE}" pid="3" name="MSIP_Label_4cad6431-53ea-4466-8111-3fefa470bcb9_ContentBits">
    <vt:lpwstr>0</vt:lpwstr>
  </property>
  <property fmtid="{D5CDD505-2E9C-101B-9397-08002B2CF9AE}" pid="4" name="MSIP_Label_4cad6431-53ea-4466-8111-3fefa470bcb9_Enabled">
    <vt:lpwstr>true</vt:lpwstr>
  </property>
  <property fmtid="{D5CDD505-2E9C-101B-9397-08002B2CF9AE}" pid="5" name="MSIP_Label_4cad6431-53ea-4466-8111-3fefa470bcb9_Method">
    <vt:lpwstr>Standard</vt:lpwstr>
  </property>
  <property fmtid="{D5CDD505-2E9C-101B-9397-08002B2CF9AE}" pid="6" name="MSIP_Label_4cad6431-53ea-4466-8111-3fefa470bcb9_Name">
    <vt:lpwstr>Usage Interne</vt:lpwstr>
  </property>
  <property fmtid="{D5CDD505-2E9C-101B-9397-08002B2CF9AE}" pid="7" name="MSIP_Label_4cad6431-53ea-4466-8111-3fefa470bcb9_SetDate">
    <vt:lpwstr>2024-03-18T14:47:28Z</vt:lpwstr>
  </property>
  <property fmtid="{D5CDD505-2E9C-101B-9397-08002B2CF9AE}" pid="8" name="MSIP_Label_4cad6431-53ea-4466-8111-3fefa470bcb9_SiteId">
    <vt:lpwstr>fb3baf17-c313-474c-8d5d-577a3ec97a32</vt:lpwstr>
  </property>
  <property fmtid="{D5CDD505-2E9C-101B-9397-08002B2CF9AE}" pid="9" name="PresentationFormat">
    <vt:lpwstr>Grand écran</vt:lpwstr>
  </property>
  <property fmtid="{D5CDD505-2E9C-101B-9397-08002B2CF9AE}" pid="10" name="Slides">
    <vt:i4>5</vt:i4>
  </property>
</Properties>
</file>